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
<Relationships xmlns="http://schemas.openxmlformats.org/package/2006/relationships">
  <Relationship Id="rId1" Type="http://schemas.openxmlformats.org/officeDocument/2006/relationships/officeDocument" Target="ppt/presentation.xml"/>
  <Relationship Id="rId4" Type="http://schemas.openxmlformats.org/package/2006/relationships/metadata/thumbnail" Target="docProps/thumbnail.jpeg"/>
  <Relationship Id="rId3" Type="http://schemas.openxmlformats.org/package/2006/relationships/metadata/core-properties" Target="docProps/core.xml"/>
  <Relationship Id="rId2" Type="http://schemas.openxmlformats.org/officeDocument/2006/relationships/extended-properties" Target="docProps/app.xml"/>
  <Relationship Id="rId5" Type="http://schemas.openxmlformats.org/officeDocument/2006/relationships/custom-properties" Target="docProps/custom.xml"/>
</Relationships>
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21"/>
    <p:sldId id="271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288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
  <Relationship Id="rId9" Type="http://schemas.openxmlformats.org/officeDocument/2006/relationships/slide" Target="slides/slide7.xml"/>
  <Relationship Id="rId8" Type="http://schemas.openxmlformats.org/officeDocument/2006/relationships/slide" Target="slides/slide6.xml"/>
  <Relationship Id="rId7" Type="http://schemas.openxmlformats.org/officeDocument/2006/relationships/slide" Target="slides/slide5.xml"/>
  <Relationship Id="rId6" Type="http://schemas.openxmlformats.org/officeDocument/2006/relationships/slide" Target="slides/slide4.xml"/>
  <Relationship Id="rId5" Type="http://schemas.openxmlformats.org/officeDocument/2006/relationships/slide" Target="slides/slide3.xml"/>
  <Relationship Id="rId4" Type="http://schemas.openxmlformats.org/officeDocument/2006/relationships/slide" Target="slides/slide2.xml"/>
  <Relationship Id="rId3" Type="http://schemas.openxmlformats.org/officeDocument/2006/relationships/slide" Target="slides/slide1.xml"/>
  <Relationship Id="rId2" Type="http://schemas.openxmlformats.org/officeDocument/2006/relationships/theme" Target="theme/theme1.xml"/>
  <Relationship Id="rId19" Type="http://schemas.openxmlformats.org/officeDocument/2006/relationships/tableStyles" Target="tableStyles.xml"/>
  <Relationship Id="rId18" Type="http://schemas.openxmlformats.org/officeDocument/2006/relationships/viewProps" Target="viewProps.xml"/>
  <Relationship Id="rId17" Type="http://schemas.openxmlformats.org/officeDocument/2006/relationships/presProps" Target="presProps.xml"/>
  <Relationship Id="rId16" Type="http://schemas.openxmlformats.org/officeDocument/2006/relationships/slide" Target="slides/slide14.xml"/>
  <Relationship Id="rId15" Type="http://schemas.openxmlformats.org/officeDocument/2006/relationships/slide" Target="slides/slide13.xml"/>
  <Relationship Id="rId14" Type="http://schemas.openxmlformats.org/officeDocument/2006/relationships/slide" Target="slides/slide12.xml"/>
  <Relationship Id="rId13" Type="http://schemas.openxmlformats.org/officeDocument/2006/relationships/slide" Target="slides/slide11.xml"/>
  <Relationship Id="rId12" Type="http://schemas.openxmlformats.org/officeDocument/2006/relationships/slide" Target="slides/slide10.xml"/>
  <Relationship Id="rId11" Type="http://schemas.openxmlformats.org/officeDocument/2006/relationships/slide" Target="slides/slide9.xml"/>
  <Relationship Id="rId10" Type="http://schemas.openxmlformats.org/officeDocument/2006/relationships/slide" Target="slides/slide8.xml"/>
  <Relationship Id="rId1" Type="http://schemas.openxmlformats.org/officeDocument/2006/relationships/slideMaster" Target="slideMasters/slideMaster1.xml"/>
  <Relationship Id="rId20" Type="http://schemas.openxmlformats.org/officeDocument/2006/relationships/slide" Target="slides/slide15.xml"/>
  <Relationship Id="rId21" Type="http://schemas.openxmlformats.org/officeDocument/2006/relationships/slide" Target="slides/slide16.xml"/>
</Relationships>

</file>

<file path=ppt/slideLayouts/_rels/slideLayout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2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3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4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5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6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7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8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9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0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<Relationship Id="rId9" Type="http://schemas.openxmlformats.org/officeDocument/2006/relationships/slideLayout" Target="../slideLayouts/slideLayout9.xml"/>
  <Relationship Id="rId8" Type="http://schemas.openxmlformats.org/officeDocument/2006/relationships/slideLayout" Target="../slideLayouts/slideLayout8.xml"/>
  <Relationship Id="rId7" Type="http://schemas.openxmlformats.org/officeDocument/2006/relationships/slideLayout" Target="../slideLayouts/slideLayout7.xml"/>
  <Relationship Id="rId6" Type="http://schemas.openxmlformats.org/officeDocument/2006/relationships/slideLayout" Target="../slideLayouts/slideLayout6.xml"/>
  <Relationship Id="rId5" Type="http://schemas.openxmlformats.org/officeDocument/2006/relationships/slideLayout" Target="../slideLayouts/slideLayout5.xml"/>
  <Relationship Id="rId4" Type="http://schemas.openxmlformats.org/officeDocument/2006/relationships/slideLayout" Target="../slideLayouts/slideLayout4.xml"/>
  <Relationship Id="rId3" Type="http://schemas.openxmlformats.org/officeDocument/2006/relationships/slideLayout" Target="../slideLayouts/slideLayout3.xml"/>
  <Relationship Id="rId2" Type="http://schemas.openxmlformats.org/officeDocument/2006/relationships/slideLayout" Target="../slideLayouts/slideLayout2.xml"/>
  <Relationship Id="rId12" Type="http://schemas.openxmlformats.org/officeDocument/2006/relationships/theme" Target="../theme/theme1.xml"/>
  <Relationship Id="rId11" Type="http://schemas.openxmlformats.org/officeDocument/2006/relationships/slideLayout" Target="../slideLayouts/slideLayout11.xml"/>
  <Relationship Id="rId10" Type="http://schemas.openxmlformats.org/officeDocument/2006/relationships/slideLayout" Target="../slideLayouts/slideLayout10.xml"/>
  <Relationship Id="rId1" Type="http://schemas.openxmlformats.org/officeDocument/2006/relationships/slideLayout" Target="../slideLayouts/slideLayout1.xml"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2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3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4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5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6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7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8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9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0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1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2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3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4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5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6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GRADUATION THESIS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CCEE"/>
                </a:solidFill>
                <a:latin typeface="微软雅黑" panose="020B0503020204020204" charset="-122"/>
              </a:defRPr>
            </a:pPr>
            <a:r>
              <a:t>毕业论文答辩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阿凡提新疆之旅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1089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——基于Web技术的新疆非遗文化展示平台设计与实现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4023360"/>
            <a:ext cx="2743200" cy="27432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4389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学    院：新疆建设职业技术学院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800600"/>
            <a:ext cx="54864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专    业：</a:t>
            </a:r>
            <a:r>
              <a:rPr lang="zh-CN"/>
              <a:t>计算机应用</a:t>
            </a:r>
            <a:r>
              <a:rPr lang="zh-CN"/>
              <a:t>技术</a:t>
            </a:r>
            <a:endParaRPr lang="zh-CN"/>
          </a:p>
        </p:txBody>
      </p:sp>
      <p:sp>
        <p:nvSpPr>
          <p:cNvPr id="11" name="TextBox 10"/>
          <p:cNvSpPr txBox="1"/>
          <p:nvPr/>
        </p:nvSpPr>
        <p:spPr>
          <a:xfrm>
            <a:off x="5669280" y="5212080"/>
            <a:ext cx="54864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学生姓名：</a:t>
            </a:r>
            <a:r>
              <a:rPr lang="zh-CN"/>
              <a:t>穆斯塔怕</a:t>
            </a:r>
            <a:r>
              <a:rPr lang="en-US" altLang="zh-CN"/>
              <a:t>·</a:t>
            </a:r>
            <a:r>
              <a:rPr lang="zh-CN" altLang="en-US"/>
              <a:t>阿山江</a:t>
            </a:r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669280" y="5623560"/>
            <a:ext cx="54864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指导教师：</a:t>
            </a:r>
            <a:r>
              <a:rPr lang="zh-CN"/>
              <a:t>夏素萍</a:t>
            </a:r>
            <a:endParaRPr lang="zh-CN"/>
          </a:p>
        </p:txBody>
      </p:sp>
      <p:sp>
        <p:nvSpPr>
          <p:cNvPr id="13" name="TextBox 12"/>
          <p:cNvSpPr txBox="1"/>
          <p:nvPr/>
        </p:nvSpPr>
        <p:spPr>
          <a:xfrm>
            <a:off x="566928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目录 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选题背景与意义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研究背景、选题动机、研究意义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286000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研究目标与内容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97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研究目标、研究内容、预期成果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3063240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3200400"/>
            <a:ext cx="548640" cy="54864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技术路线与方法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474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技术选型、架构设计、开发流程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840480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3977639"/>
            <a:ext cx="548640" cy="548640"/>
          </a:xfrm>
          <a:prstGeom prst="ellipse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9319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系统设计与实现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2519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功能模块、数据库设计、核心代码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4617719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754880"/>
            <a:ext cx="548640" cy="54864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系统展示与测试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界面展示、功能演示、测试结果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5394960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5532120"/>
            <a:ext cx="548640" cy="548640"/>
          </a:xfrm>
          <a:prstGeom prst="ellipse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806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研究总结、创新点、未来展望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选题背景与意义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研究背景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◆ 新疆拥有47项国家级非物质文化遗产，资源丰富但数字化展示不足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◆ 传统非遗传播方式单一，年轻群体接触渠道有限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◆ Web技术发展为非遗数字化保护与传播提供新可能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◆ 国家政策大力支持非遗文化的数字化保护与传承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45720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选题意义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10312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2377440"/>
            <a:ext cx="128016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文化传承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31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通过数字化手段保存和传播新疆非遗文化，让更多人了解阿凡提故事的智慧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291840"/>
            <a:ext cx="128016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探索Web前端技术在文化展示领域的应用，实现技术与文化的深度融合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206240"/>
            <a:ext cx="128016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教育价值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为新疆非遗文化教育提供交互式学习平台，增强文化认同感和自信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5120640"/>
            <a:ext cx="128016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社会意义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74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响应国家文化数字化战略，助力新疆文化旅游产业发展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研究目标与内容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560320" cy="3200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构建展示平台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设计并开发基于Web的新疆非遗文化展示平台，以阿凡提故事为主线串联新疆各地非遗项目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2560320" cy="3200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实现沉浸体验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6576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运用前端技术实现沉浸式交互体验，包括3D场景、动画特效和多媒体展示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2560320" cy="3200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响应式适配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576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实现响应式设计，兼容PC端和移动端访问，覆盖不同用户群体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286000"/>
            <a:ext cx="2560320" cy="3200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智能检索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6576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实现非遗项目分类检索和智能推荐功能，提升用户浏览效率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研究目标与内容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41148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042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新疆非遗文化资源的调研与梳理——以阿凡提故事为核心，系统整理新疆各地非遗项目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41148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900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基于Vue.js 3 + TypeScript的前端架构设计与实现——组件化开发，提升代码可维护性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41148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758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新疆特色UI/UX设计——融合新疆民族纹样、色彩体系，打造独特视觉风格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41148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616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多媒体内容管理与展示系统——整合图片、音频、视频、3D模型等多种媒体资源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41148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474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交互式地图与路线规划——实现阿凡提新疆之旅的虚拟路线展示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15000"/>
            <a:ext cx="41148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7332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后端API设计与数据管理——基于ASP.NET + MySQL构建RESTful服务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技术路线与方法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技术选型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1284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前端框架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Vue.js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97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Composition API + 响应式系统，组件化开发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开发语言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54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类型安全，提升代码质量与开发效率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UI框架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Bootstrap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11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响应式栅格系统，快速构建适配多端界面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后端框架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ASP.NET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069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高性能Web API，安全可靠的接口服务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数据库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526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关系型数据库，稳定高效的数据存储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构建工具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Vite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983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极速开发体验，热模块替换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版本控制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Git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440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团队协作与代码管理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97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部署方案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897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Nginx + Docker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897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容器化部署，弹性伸缩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技术路线与方法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系统架构设计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286000"/>
            <a:ext cx="8229600" cy="11887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表现层（前端）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788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Vue.js 3 + TypeScript + Bootstrap 5</a:t>
            </a:r>
            <a:br/>
            <a:r>
              <a:t>组件化UI · 响应式布局 · 交互特效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429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749039"/>
            <a:ext cx="8229600" cy="1188720"/>
          </a:xfrm>
          <a:prstGeom prst="round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8404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业务逻辑层（后端）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25195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ASP.NET Web API</a:t>
            </a:r>
            <a:br/>
            <a:r>
              <a:t>RESTful接口 · 身份认证 · 数据校验 · 业务处理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892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212080"/>
            <a:ext cx="82296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数据访问层（持久层）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715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MySQL + Entity Framework</a:t>
            </a:r>
            <a:br/>
            <a:r>
              <a:t>数据存储 · ORM映射 · 事务管理 · 缓存策略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658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功能模块设计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3017520"/>
            <a:ext cx="2743200" cy="82296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阿凡提新疆之旅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926080" cy="914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首页展示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轮播图·非遗概览</a:t>
            </a:r>
            <a:br/>
            <a:r>
              <a:t>快捷导航·搜索入口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2926080" cy="914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阿凡提故事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27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故事列表·详情阅读</a:t>
            </a:r>
            <a:br/>
            <a:r>
              <a:t>角色介绍·智慧语录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2926080" cy="914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13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非遗地图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245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交互地图·地点标注</a:t>
            </a:r>
            <a:br/>
            <a:r>
              <a:t>路线规划·区域筛选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2926080" cy="914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文化展厅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218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3D展馆·图片画廊</a:t>
            </a:r>
            <a:br/>
            <a:r>
              <a:t>音视频播放·VR体验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645920"/>
            <a:ext cx="2926080" cy="914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用户系统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注册登录·个人中心</a:t>
            </a:r>
            <a:br/>
            <a:r>
              <a:t>收藏管理·浏览历史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743200"/>
            <a:ext cx="2926080" cy="914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内容管理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127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非遗录入·媒体上传</a:t>
            </a:r>
            <a:br/>
            <a:r>
              <a:t>分类标签·审核流程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3840480"/>
            <a:ext cx="2926080" cy="914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3913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智能推荐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2245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兴趣分析·个性推荐</a:t>
            </a:r>
            <a:br/>
            <a:r>
              <a:t>热门排行·关联推荐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4937760"/>
            <a:ext cx="2926080" cy="9144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数据统计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3218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访问分析·用户画像</a:t>
            </a:r>
            <a:br/>
            <a:r>
              <a:t>内容热度·趋势报告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数据库设计（核心表）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表名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1284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用户表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id, username, password, email, avatar, created_at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heritage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非遗项目表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546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id, name, category, region, description, media_urls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stories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阿凡提故事表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118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id, title, content, region, summary, cover_img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媒体资源表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690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id, type, url, title, heritage_id, upload_time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comments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评论表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262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id, user_id, content_id, content, created_at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83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favorites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收藏表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9834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id, user_id, content_id, content_type, created_at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categories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分类标签表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4406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id, name, parent_id, icon, sort_order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97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regions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897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地区表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8978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id, name, longitude, latitude, description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核心代码展示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4864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Vue 3 组件 - 阿凡提故事卡片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D8A8"/>
                </a:solidFill>
                <a:latin typeface="Consolas" panose="020B0609020204030204"/>
              </a:defRPr>
            </a:pPr>
            <a:r>
              <a:t>&lt;script setup lang="ts"&gt;</a:t>
            </a:r>
            <a:br/>
            <a:r>
              <a:t>import { ref, onMounted } from 'vue'</a:t>
            </a:r>
            <a:br/>
            <a:r>
              <a:t>import type { Story } from '@/types'</a:t>
            </a:r>
            <a:br/>
            <a:br/>
            <a:r>
              <a:t>const stories = ref&lt;Story[]&gt;([])</a:t>
            </a:r>
            <a:br/>
            <a:r>
              <a:t>const loading = ref(true)</a:t>
            </a:r>
            <a:br/>
            <a:br/>
            <a:r>
              <a:t>const fetchStories = async () =&gt; {</a:t>
            </a:r>
            <a:br/>
            <a:r>
              <a:t>  const { data } = await api</a:t>
            </a:r>
            <a:br/>
            <a:r>
              <a:t>    .get('/stories', { params: { region } })</a:t>
            </a:r>
            <a:br/>
            <a:r>
              <a:t>  stories.value = data</a:t>
            </a:r>
            <a:br/>
            <a:r>
              <a:t>  loading.value = false</a:t>
            </a:r>
            <a:br/>
            <a:r>
              <a:t>}</a:t>
            </a:r>
            <a:br/>
            <a:r>
              <a:t>onMounted(fetchStories)</a:t>
            </a:r>
            <a:br/>
            <a:r>
              <a:t>&lt;/script&gt;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4864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ASP.NET Web API - 故事接口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D8A8"/>
                </a:solidFill>
                <a:latin typeface="Consolas" panose="020B0609020204030204"/>
              </a:defRPr>
            </a:pPr>
            <a:r>
              <a:t>[ApiController]</a:t>
            </a:r>
            <a:br/>
            <a:r>
              <a:t>[Route("api/[controller]")]</a:t>
            </a:r>
            <a:br/>
            <a:r>
              <a:t>public class StoriesController : ControllerBase</a:t>
            </a:r>
            <a:br/>
            <a:r>
              <a:t>{</a:t>
            </a:r>
            <a:br/>
            <a:r>
              <a:t>    private readonly AppDbContext _ctx;</a:t>
            </a:r>
            <a:br/>
            <a:br/>
            <a:r>
              <a:t>    [HttpGet]</a:t>
            </a:r>
            <a:br/>
            <a:r>
              <a:t>    public async Task&lt;ActionResult&gt; GetStories(</a:t>
            </a:r>
            <a:br/>
            <a:r>
              <a:t>        [FromQuery] string? region,</a:t>
            </a:r>
            <a:br/>
            <a:r>
              <a:t>        [FromQuery] int page = 1)</a:t>
            </a:r>
            <a:br/>
            <a:r>
              <a:t>    {</a:t>
            </a:r>
            <a:br/>
            <a:r>
              <a:t>        var query = _ctx.Stories</a:t>
            </a:r>
            <a:br/>
            <a:r>
              <a:t>            .Where(s =&gt; region == null</a:t>
            </a:r>
            <a:br/>
            <a:r>
              <a:t>                || s.Region == region);</a:t>
            </a:r>
            <a:br/>
            <a:r>
              <a:t>        return Ok(await query</a:t>
            </a:r>
            <a:br/>
            <a:r>
              <a:t>            .Skip((page - 1) * 10)</a:t>
            </a:r>
            <a:br/>
            <a:r>
              <a:t>            .Take(10).ToListAsync());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系统展示与测试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系统界面展示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651760" cy="384048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331720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31720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24688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首页展示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200400"/>
            <a:ext cx="1371600" cy="27432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非遗文化轮播展示</a:t>
            </a:r>
            <a:br/>
            <a:r>
              <a:t>快捷分类导航</a:t>
            </a:r>
            <a:br/>
            <a:r>
              <a:t>智能搜索入口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286000"/>
            <a:ext cx="2651760" cy="384048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2286000"/>
            <a:ext cx="2651760" cy="3657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74720" y="2331720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0" y="2331720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0" y="2331720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2743200"/>
            <a:ext cx="24688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阿凡提故事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3200400"/>
            <a:ext cx="1371600" cy="27432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3832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故事展开/收起交互</a:t>
            </a:r>
            <a:br/>
            <a:r>
              <a:t>段落式阅读体验</a:t>
            </a:r>
            <a:br/>
            <a:r>
              <a:t>关联非遗推荐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2736" y="2286000"/>
            <a:ext cx="2651760" cy="384048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2736" y="2286000"/>
            <a:ext cx="2651760" cy="3657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19896" y="2331720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02776" y="2331720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5656" y="2331720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74176" y="2743200"/>
            <a:ext cx="24688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65616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互动游戏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31376" y="3200400"/>
            <a:ext cx="1371600" cy="27432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57056" y="33832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阿凡提问答挑战</a:t>
            </a:r>
            <a:br/>
            <a:r>
              <a:t>非遗知识配对</a:t>
            </a:r>
            <a:br/>
            <a:r>
              <a:t>民族纹样拼图</a:t>
            </a:r>
            <a:br/>
            <a:r>
              <a:t>新疆美食连连看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系统展示与测试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测试结果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943600" cy="64008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04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功能测试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15个测试用例，全部通过（vitest自动化测试）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5943600" cy="64008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兼容性测试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Chrome/Firefox/Safari/Edge 全通过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943600" cy="64008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响应式测试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PC/平板/手机 三端适配正常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17720"/>
            <a:ext cx="5943600" cy="64008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36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性能测试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前端性能：Vite构建优化，首屏加载流畅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5943600" cy="64008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安全测试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模拟API测试：json-server接口可用性验证通过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项目实现说明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已完成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Vue 3 + TypeScript 前端框架搭建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5个页面（首页/故事/景点/游戏/关于）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4款互动游戏（问答/配对/拼图/连连看）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响应式布局（PC/平板/手机三端适配）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json-server 模拟API接口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15个自动化测试用例（vitest）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论文撰写（需求/设计/实现/测试）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规划中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13/15</a:t>
            </a:r>
          </a:p>
        </p:txBody>
      </p:sp>
      <p:sp>
        <p:nvSpPr>
          <p:cNvPr id="100" name="TextBox planning"/>
          <p:cNvSpPr txBox="1"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◇ 用户注册登录系统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◇ 后台内容管理系统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◇ 非遗地图交互功能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◇ 智能推荐算法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◇ 真实后端API（ASP.NET）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◇ 数据库部署（SQL Server）</a:t>
            </a:r>
          </a:p>
        </p:txBody>
      </p:sp>
      <p:sp>
        <p:nvSpPr>
          <p:cNvPr id="101" name="TextBox note"/>
          <p:cNvSpPr txBox="1"/>
          <p:nvPr/>
        </p:nvSpPr>
        <p:spPr>
          <a:xfrm>
            <a:off x="731520" y="59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本项目的核心价值在于前端工程实践与文化内容的数字化呈现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致    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感谢各位老师的悉心指导！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5603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本论文的完成离不开导师的悉心指导和同学们的帮助支持。</a:t>
            </a:r>
            <a:br/>
            <a:br/>
            <a:r>
              <a:t>感谢指导老师在选题、研究、写作全过程中给予的宝贵意见；</a:t>
            </a:r>
            <a:br/>
            <a:r>
              <a:t>感谢学院提供的良好学习环境和资源支持；</a:t>
            </a:r>
            <a:br/>
            <a:r>
              <a:t>感谢同窗好友在技术探讨和测试中给予的帮助；</a:t>
            </a:r>
            <a:br/>
            <a:r>
              <a:t>感谢家人一直以来的理解和鼓励。</a:t>
            </a:r>
            <a:br/>
            <a:br/>
            <a:r>
              <a:t>愿新疆非遗文化在数字化时代焕发新的光彩！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943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敬请各位老师批评指正！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致    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感谢各位老师的悉心指导！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5603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本论文的完成离不开导师的悉心指导和同学们的帮助支持。</a:t>
            </a:r>
            <a:br/>
            <a:br/>
            <a:r>
              <a:t>感谢指导老师在选题、研究、写作全过程中给予的宝贵意见；</a:t>
            </a:r>
            <a:br/>
            <a:r>
              <a:t>感谢学院提供的良好学习环境和资源支持；</a:t>
            </a:r>
            <a:br/>
            <a:r>
              <a:t>感谢同窗好友在技术探讨和测试中给予的帮助；</a:t>
            </a:r>
            <a:br/>
            <a:r>
              <a:t>感谢家人一直以来的理解和鼓励。</a:t>
            </a:r>
            <a:br/>
            <a:br/>
            <a:r>
              <a:t>愿新疆非遗文化在数字化时代焕发新的光彩！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943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48A2A"/>
                </a:solidFill>
                <a:latin typeface="微软雅黑" panose="020B0503020204020204" charset="-122"/>
              </a:defRPr>
            </a:pPr>
            <a:r>
              <a:t>敬请各位老师批评指正！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创新点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首创以阿凡提故事为线索串联新疆非遗的叙事化展示模式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融合新疆民族纹样与色彩体系的前端UI设计，打造独特视觉语言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基于用户行为的智能推荐算法，实现非遗内容的个性化推送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★ 交互式地图 + 虚拟路线的沉浸式体验设计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未来展望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1097280" cy="36576"/>
          </a:xfrm>
          <a:prstGeom prst="rect">
            <a:avLst/>
          </a:prstGeom>
          <a:solidFill>
            <a:srgbClr val="C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16459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VR/AR融合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0428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引入WebXR技术，实现虚拟展馆沉浸式体验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91840"/>
            <a:ext cx="16459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AI导游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1012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集成大语言模型，打造智能阿凡提导游助手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97680"/>
            <a:ext cx="16459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多语言支持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31596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增加维吾尔语、英语等多语言版本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303520"/>
            <a:ext cx="16459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社区生态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32180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建设用户UGC社区，鼓励用户参与非遗传播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3745</Words>
  <Application>WPS 演示</Application>
  <PresentationFormat>On-screen Show (4:3)</PresentationFormat>
  <Paragraphs>466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木wps</cp:lastModifiedBy>
  <cp:revision>2</cp:revision>
  <dcterms:created xsi:type="dcterms:W3CDTF">2013-01-27T09:14:00Z</dcterms:created>
  <dcterms:modified xsi:type="dcterms:W3CDTF">2026-04-26T05:23:57Z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C56010786F5146598FB8FE8AA214A0DB_12</vt:lpwstr>
  </property>
</Properties>
</file>